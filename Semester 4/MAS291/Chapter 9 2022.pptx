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0" r:id="rId3"/>
    <p:sldId id="323" r:id="rId4"/>
    <p:sldId id="301" r:id="rId5"/>
    <p:sldId id="302" r:id="rId6"/>
    <p:sldId id="303" r:id="rId7"/>
    <p:sldId id="304" r:id="rId8"/>
    <p:sldId id="305" r:id="rId9"/>
    <p:sldId id="307" r:id="rId10"/>
    <p:sldId id="308" r:id="rId11"/>
    <p:sldId id="309" r:id="rId12"/>
    <p:sldId id="310" r:id="rId13"/>
    <p:sldId id="257" r:id="rId14"/>
    <p:sldId id="266" r:id="rId15"/>
    <p:sldId id="258" r:id="rId16"/>
    <p:sldId id="267" r:id="rId17"/>
    <p:sldId id="268" r:id="rId18"/>
    <p:sldId id="259" r:id="rId19"/>
    <p:sldId id="260" r:id="rId20"/>
    <p:sldId id="265" r:id="rId21"/>
    <p:sldId id="312" r:id="rId22"/>
    <p:sldId id="317" r:id="rId23"/>
    <p:sldId id="316" r:id="rId24"/>
    <p:sldId id="315" r:id="rId25"/>
    <p:sldId id="311" r:id="rId26"/>
    <p:sldId id="319" r:id="rId27"/>
    <p:sldId id="320" r:id="rId28"/>
    <p:sldId id="322" r:id="rId29"/>
    <p:sldId id="321" r:id="rId30"/>
    <p:sldId id="318" r:id="rId31"/>
    <p:sldId id="272" r:id="rId32"/>
    <p:sldId id="273" r:id="rId33"/>
    <p:sldId id="271" r:id="rId34"/>
    <p:sldId id="261" r:id="rId35"/>
    <p:sldId id="262" r:id="rId36"/>
    <p:sldId id="269" r:id="rId37"/>
    <p:sldId id="270" r:id="rId38"/>
    <p:sldId id="294" r:id="rId39"/>
    <p:sldId id="295" r:id="rId40"/>
    <p:sldId id="296" r:id="rId41"/>
    <p:sldId id="299" r:id="rId42"/>
    <p:sldId id="280" r:id="rId43"/>
    <p:sldId id="281" r:id="rId44"/>
    <p:sldId id="298" r:id="rId45"/>
    <p:sldId id="279" r:id="rId46"/>
    <p:sldId id="297" r:id="rId47"/>
    <p:sldId id="289" r:id="rId48"/>
    <p:sldId id="288" r:id="rId49"/>
    <p:sldId id="290" r:id="rId50"/>
    <p:sldId id="291" r:id="rId51"/>
    <p:sldId id="283" r:id="rId52"/>
    <p:sldId id="287" r:id="rId53"/>
    <p:sldId id="278" r:id="rId54"/>
    <p:sldId id="292" r:id="rId55"/>
    <p:sldId id="293" r:id="rId56"/>
    <p:sldId id="282" r:id="rId57"/>
    <p:sldId id="284" r:id="rId58"/>
    <p:sldId id="274" r:id="rId59"/>
    <p:sldId id="285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86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3" y="2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84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33400"/>
            <a:ext cx="7918704" cy="533400"/>
          </a:xfrm>
        </p:spPr>
        <p:txBody>
          <a:bodyPr>
            <a:normAutofit/>
          </a:bodyPr>
          <a:lstStyle>
            <a:lvl1pPr>
              <a:defRPr sz="32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600200"/>
            <a:ext cx="7918705" cy="4572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3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62" y="2"/>
            <a:ext cx="9139238" cy="3657599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3" y="2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038602"/>
            <a:ext cx="5829300" cy="2384577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114802"/>
            <a:ext cx="2400300" cy="2308377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79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405384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1371600"/>
            <a:ext cx="356616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371600"/>
            <a:ext cx="356616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0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3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7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9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02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1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2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08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33400"/>
            <a:ext cx="7690104" cy="545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371600"/>
            <a:ext cx="7690104" cy="49377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8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8D8758E-5CA3-4353-93CE-7C6A0A6B4456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D0DA177-695F-4863-87DE-5C51332E214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533400"/>
            <a:ext cx="0" cy="54527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8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all" spc="100" baseline="0">
          <a:solidFill>
            <a:schemeClr val="tx1">
              <a:lumMod val="95000"/>
              <a:lumOff val="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32.wmf"/><Relationship Id="rId21" Type="http://schemas.openxmlformats.org/officeDocument/2006/relationships/image" Target="../media/image41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39.wmf"/><Relationship Id="rId25" Type="http://schemas.openxmlformats.org/officeDocument/2006/relationships/image" Target="../media/image4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4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40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4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15.bin"/><Relationship Id="rId7" Type="http://schemas.openxmlformats.org/officeDocument/2006/relationships/image" Target="../media/image49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52.emf"/><Relationship Id="rId4" Type="http://schemas.openxmlformats.org/officeDocument/2006/relationships/image" Target="../media/image47.wmf"/><Relationship Id="rId9" Type="http://schemas.openxmlformats.org/officeDocument/2006/relationships/image" Target="../media/image51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25.bin"/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60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6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2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62.wmf"/><Relationship Id="rId7" Type="http://schemas.openxmlformats.org/officeDocument/2006/relationships/image" Target="../media/image64.wmf"/><Relationship Id="rId12" Type="http://schemas.openxmlformats.org/officeDocument/2006/relationships/image" Target="../media/image67.e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65.w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3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73.wmf"/><Relationship Id="rId3" Type="http://schemas.openxmlformats.org/officeDocument/2006/relationships/image" Target="../media/image62.wmf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72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71.wmf"/><Relationship Id="rId14" Type="http://schemas.openxmlformats.org/officeDocument/2006/relationships/image" Target="../media/image7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76.wmf"/><Relationship Id="rId4" Type="http://schemas.openxmlformats.org/officeDocument/2006/relationships/oleObject" Target="../embeddings/oleObject41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7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48.bin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72.wmf"/><Relationship Id="rId5" Type="http://schemas.openxmlformats.org/officeDocument/2006/relationships/image" Target="../media/image79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71.wmf"/><Relationship Id="rId14" Type="http://schemas.openxmlformats.org/officeDocument/2006/relationships/image" Target="../media/image74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wmf"/><Relationship Id="rId4" Type="http://schemas.openxmlformats.org/officeDocument/2006/relationships/oleObject" Target="../embeddings/oleObject52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58.bin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87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image" Target="../media/image96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oleObject" Target="../embeddings/oleObject62.bin"/><Relationship Id="rId5" Type="http://schemas.openxmlformats.org/officeDocument/2006/relationships/image" Target="../media/image91.wmf"/><Relationship Id="rId10" Type="http://schemas.openxmlformats.org/officeDocument/2006/relationships/image" Target="../media/image95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94.emf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7.gi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Chap 9</a:t>
            </a:r>
          </a:p>
        </p:txBody>
      </p:sp>
    </p:spTree>
    <p:extLst>
      <p:ext uri="{BB962C8B-B14F-4D97-AF65-F5344CB8AC3E}">
        <p14:creationId xmlns:p14="http://schemas.microsoft.com/office/powerpoint/2010/main" val="299194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-------------------------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luận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242" y="1600200"/>
            <a:ext cx="8484781" cy="4572000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:</a:t>
            </a:r>
          </a:p>
          <a:p>
            <a:r>
              <a:rPr lang="en-US" dirty="0"/>
              <a:t>1. </a:t>
            </a:r>
            <a:r>
              <a:rPr lang="en-US" dirty="0" err="1"/>
              <a:t>Đồng</a:t>
            </a:r>
            <a:r>
              <a:rPr lang="en-US" dirty="0"/>
              <a:t> ý </a:t>
            </a:r>
            <a:r>
              <a:rPr lang="en-US" dirty="0">
                <a:sym typeface="Wingdings" panose="05000000000000000000" pitchFamily="2" charset="2"/>
              </a:rPr>
              <a:t> Fail to reject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</a:t>
            </a:r>
            <a:r>
              <a:rPr lang="en-US" dirty="0">
                <a:sym typeface="Wingdings" panose="05000000000000000000" pitchFamily="2" charset="2"/>
              </a:rPr>
              <a:t> Reject</a:t>
            </a:r>
          </a:p>
          <a:p>
            <a:r>
              <a:rPr lang="en-US" dirty="0" err="1">
                <a:sym typeface="Wingdings" panose="05000000000000000000" pitchFamily="2" charset="2"/>
              </a:rPr>
              <a:t>Ví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dụ</a:t>
            </a:r>
            <a:r>
              <a:rPr lang="en-US" dirty="0">
                <a:sym typeface="Wingdings" panose="05000000000000000000" pitchFamily="2" charset="2"/>
              </a:rPr>
              <a:t> 1. </a:t>
            </a:r>
            <a:r>
              <a:rPr lang="en-US" dirty="0" err="1">
                <a:sym typeface="Wingdings" panose="05000000000000000000" pitchFamily="2" charset="2"/>
              </a:rPr>
              <a:t>Về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chất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lượng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dịch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vụ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bãi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gửi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tại</a:t>
            </a:r>
            <a:r>
              <a:rPr lang="en-US" dirty="0">
                <a:sym typeface="Wingdings" panose="05000000000000000000" pitchFamily="2" charset="2"/>
              </a:rPr>
              <a:t> FPTU</a:t>
            </a:r>
          </a:p>
          <a:p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“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Tỷ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lệ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sinh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viên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không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hài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lòng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4000" dirty="0" err="1">
                <a:solidFill>
                  <a:srgbClr val="FF0000"/>
                </a:solidFill>
                <a:sym typeface="Wingdings" panose="05000000000000000000" pitchFamily="2" charset="2"/>
              </a:rPr>
              <a:t>là</a:t>
            </a:r>
            <a:r>
              <a:rPr lang="en-US" sz="4000" dirty="0">
                <a:solidFill>
                  <a:srgbClr val="FF0000"/>
                </a:solidFill>
                <a:sym typeface="Wingdings" panose="05000000000000000000" pitchFamily="2" charset="2"/>
              </a:rPr>
              <a:t> 30%”</a:t>
            </a:r>
          </a:p>
          <a:p>
            <a:endParaRPr lang="en-US" sz="4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261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D59A-87C4-0FA1-DD22-26958629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40265-01BA-2D52-E667-BC53938C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101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0927" y="1526058"/>
            <a:ext cx="2759677" cy="36864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H0 assumed to be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11" y="1128582"/>
            <a:ext cx="1388073" cy="1886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Theory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0248" y="1128582"/>
            <a:ext cx="1709352" cy="188646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Observed Value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1880" y="1894701"/>
            <a:ext cx="4217773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767" y="187407"/>
            <a:ext cx="2850292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: 30%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Retake MAS291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767" y="1314641"/>
            <a:ext cx="2850292" cy="4115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681" y="2850809"/>
            <a:ext cx="2232452" cy="16058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Nếu</a:t>
            </a:r>
            <a:r>
              <a:rPr lang="en-US" dirty="0"/>
              <a:t> có từ 10 </a:t>
            </a:r>
            <a:r>
              <a:rPr lang="en-US" dirty="0" err="1"/>
              <a:t>đến</a:t>
            </a:r>
            <a:r>
              <a:rPr lang="en-US" dirty="0"/>
              <a:t> 20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Retake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thì </a:t>
            </a:r>
            <a:r>
              <a:rPr lang="en-US" dirty="0" err="1"/>
              <a:t>đồng</a:t>
            </a:r>
            <a:r>
              <a:rPr lang="en-US" dirty="0"/>
              <a:t> ý</a:t>
            </a:r>
          </a:p>
        </p:txBody>
      </p:sp>
      <p:sp>
        <p:nvSpPr>
          <p:cNvPr id="10" name="Right Arrow 9"/>
          <p:cNvSpPr/>
          <p:nvPr/>
        </p:nvSpPr>
        <p:spPr>
          <a:xfrm rot="5400000">
            <a:off x="4640020" y="937273"/>
            <a:ext cx="491125" cy="26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856415" y="5136138"/>
            <a:ext cx="1158827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3708" y="2850809"/>
            <a:ext cx="2232452" cy="160586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Retake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[10;20] thì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và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5733396" y="5136138"/>
            <a:ext cx="1245325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hơn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21" y="5981179"/>
            <a:ext cx="1158826" cy="6240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grpSp>
        <p:nvGrpSpPr>
          <p:cNvPr id="38" name="Group 37"/>
          <p:cNvGrpSpPr/>
          <p:nvPr/>
        </p:nvGrpSpPr>
        <p:grpSpPr>
          <a:xfrm>
            <a:off x="2178907" y="1726151"/>
            <a:ext cx="5231027" cy="1124658"/>
            <a:chOff x="2178907" y="1726151"/>
            <a:chExt cx="5231027" cy="1124658"/>
          </a:xfrm>
        </p:grpSpPr>
        <p:cxnSp>
          <p:nvCxnSpPr>
            <p:cNvPr id="25" name="Straight Arrow Connector 24"/>
            <p:cNvCxnSpPr>
              <a:stCxn id="5" idx="2"/>
              <a:endCxn id="21" idx="0"/>
            </p:cNvCxnSpPr>
            <p:nvPr/>
          </p:nvCxnSpPr>
          <p:spPr>
            <a:xfrm>
              <a:off x="4930913" y="1726151"/>
              <a:ext cx="2479021" cy="1124658"/>
            </a:xfrm>
            <a:prstGeom prst="straightConnector1">
              <a:avLst/>
            </a:prstGeom>
            <a:ln w="1047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5" idx="2"/>
              <a:endCxn id="6" idx="0"/>
            </p:cNvCxnSpPr>
            <p:nvPr/>
          </p:nvCxnSpPr>
          <p:spPr>
            <a:xfrm flipH="1">
              <a:off x="2178907" y="1726151"/>
              <a:ext cx="2752006" cy="1124658"/>
            </a:xfrm>
            <a:prstGeom prst="straightConnector1">
              <a:avLst/>
            </a:prstGeom>
            <a:ln w="1047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6356059" y="4456670"/>
            <a:ext cx="2079770" cy="1524509"/>
            <a:chOff x="6356059" y="4456670"/>
            <a:chExt cx="2079770" cy="1524509"/>
          </a:xfrm>
        </p:grpSpPr>
        <p:cxnSp>
          <p:nvCxnSpPr>
            <p:cNvPr id="29" name="Straight Arrow Connector 28"/>
            <p:cNvCxnSpPr>
              <a:stCxn id="21" idx="2"/>
              <a:endCxn id="23" idx="0"/>
            </p:cNvCxnSpPr>
            <p:nvPr/>
          </p:nvCxnSpPr>
          <p:spPr>
            <a:xfrm>
              <a:off x="7409934" y="4456670"/>
              <a:ext cx="0" cy="1524509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1" idx="2"/>
              <a:endCxn id="20" idx="0"/>
            </p:cNvCxnSpPr>
            <p:nvPr/>
          </p:nvCxnSpPr>
          <p:spPr>
            <a:xfrm>
              <a:off x="7409934" y="4456670"/>
              <a:ext cx="1025895" cy="679468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1" idx="2"/>
              <a:endCxn id="22" idx="0"/>
            </p:cNvCxnSpPr>
            <p:nvPr/>
          </p:nvCxnSpPr>
          <p:spPr>
            <a:xfrm flipH="1">
              <a:off x="6356059" y="4456670"/>
              <a:ext cx="1053875" cy="679468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92047" y="4738458"/>
            <a:ext cx="3973720" cy="1866737"/>
            <a:chOff x="452211" y="5303271"/>
            <a:chExt cx="3549179" cy="1554729"/>
          </a:xfrm>
        </p:grpSpPr>
        <p:pic>
          <p:nvPicPr>
            <p:cNvPr id="35" name="Picture 6" descr="3. Type I and Type II Error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11" y="5303271"/>
              <a:ext cx="3549179" cy="1554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535459" y="5362831"/>
              <a:ext cx="1334531" cy="523220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bg1"/>
                  </a:solidFill>
                </a:rPr>
                <a:t>Sai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lầm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488" y="2007940"/>
            <a:ext cx="4415705" cy="3273472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538" y="95772"/>
            <a:ext cx="1828579" cy="199374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839" y="2059180"/>
            <a:ext cx="1868524" cy="54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3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897924" y="1565188"/>
            <a:ext cx="1822539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H0: p=0,3</a:t>
            </a:r>
          </a:p>
        </p:txBody>
      </p:sp>
      <p:sp>
        <p:nvSpPr>
          <p:cNvPr id="5" name="Rectangle 4"/>
          <p:cNvSpPr/>
          <p:nvPr/>
        </p:nvSpPr>
        <p:spPr>
          <a:xfrm>
            <a:off x="3908854" y="1565187"/>
            <a:ext cx="1822539" cy="6240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Chọn</a:t>
            </a:r>
            <a:r>
              <a:rPr lang="en-US" sz="2000" dirty="0"/>
              <a:t> </a:t>
            </a:r>
            <a:r>
              <a:rPr lang="en-US" sz="2000" dirty="0" err="1"/>
              <a:t>mẫu</a:t>
            </a:r>
            <a:r>
              <a:rPr lang="en-US" sz="2000" dirty="0"/>
              <a:t> n=50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730312" y="1308785"/>
            <a:ext cx="2298358" cy="113682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sát</a:t>
            </a:r>
            <a:r>
              <a:rPr lang="en-US" sz="2000" dirty="0"/>
              <a:t> X (</a:t>
            </a:r>
            <a:r>
              <a:rPr lang="en-US" sz="2000" dirty="0" err="1"/>
              <a:t>sinh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phải</a:t>
            </a:r>
            <a:r>
              <a:rPr lang="en-US" sz="2000" dirty="0"/>
              <a:t> làm retake </a:t>
            </a:r>
            <a:r>
              <a:rPr lang="en-US" sz="2000" dirty="0" err="1"/>
              <a:t>môn</a:t>
            </a:r>
            <a:r>
              <a:rPr lang="en-US" sz="2000" dirty="0"/>
              <a:t> MAS291)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16269" y="1745389"/>
            <a:ext cx="996779" cy="26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5827200" y="1745388"/>
            <a:ext cx="828974" cy="26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5400000">
            <a:off x="7220191" y="2961234"/>
            <a:ext cx="1178553" cy="26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8564279" y="3830595"/>
            <a:ext cx="122540" cy="2759676"/>
            <a:chOff x="7694134" y="3945924"/>
            <a:chExt cx="115333" cy="2759676"/>
          </a:xfrm>
        </p:grpSpPr>
        <p:sp>
          <p:nvSpPr>
            <p:cNvPr id="12" name="Rectangle 11"/>
            <p:cNvSpPr/>
            <p:nvPr/>
          </p:nvSpPr>
          <p:spPr>
            <a:xfrm>
              <a:off x="7697043" y="3945924"/>
              <a:ext cx="112424" cy="275967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694134" y="4419599"/>
              <a:ext cx="115333" cy="181232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8133527" y="364592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7055" y="64056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5291" y="411960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8819" y="593192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4753" y="311049"/>
            <a:ext cx="3262909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Hai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loại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sai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lầm</a:t>
            </a:r>
            <a:r>
              <a:rPr lang="en-US" sz="2800" b="1" dirty="0">
                <a:solidFill>
                  <a:schemeClr val="bg1"/>
                </a:solidFill>
              </a:rPr>
              <a:t>???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553562"/>
            <a:ext cx="5527588" cy="403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3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92" y="705048"/>
            <a:ext cx="3267284" cy="13007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767" y="187407"/>
            <a:ext cx="2850292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: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Retake MAS291 là p</a:t>
            </a:r>
          </a:p>
        </p:txBody>
      </p:sp>
      <p:sp>
        <p:nvSpPr>
          <p:cNvPr id="5" name="Rectangle 4"/>
          <p:cNvSpPr/>
          <p:nvPr/>
        </p:nvSpPr>
        <p:spPr>
          <a:xfrm>
            <a:off x="3505767" y="1314641"/>
            <a:ext cx="2850292" cy="4115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681" y="2850809"/>
            <a:ext cx="2232452" cy="16058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Nếu</a:t>
            </a:r>
            <a:r>
              <a:rPr lang="en-US" dirty="0"/>
              <a:t> có từ a </a:t>
            </a:r>
            <a:r>
              <a:rPr lang="en-US" dirty="0" err="1"/>
              <a:t>đến</a:t>
            </a:r>
            <a:r>
              <a:rPr lang="en-US" dirty="0"/>
              <a:t> b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Retake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thì </a:t>
            </a:r>
            <a:r>
              <a:rPr lang="en-US" dirty="0" err="1"/>
              <a:t>đồng</a:t>
            </a:r>
            <a:r>
              <a:rPr lang="en-US" dirty="0"/>
              <a:t> ý</a:t>
            </a:r>
          </a:p>
        </p:txBody>
      </p:sp>
      <p:sp>
        <p:nvSpPr>
          <p:cNvPr id="10" name="Right Arrow 9"/>
          <p:cNvSpPr/>
          <p:nvPr/>
        </p:nvSpPr>
        <p:spPr>
          <a:xfrm rot="5400000">
            <a:off x="4640020" y="937273"/>
            <a:ext cx="491125" cy="26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856415" y="5136138"/>
            <a:ext cx="1158827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3708" y="2850809"/>
            <a:ext cx="2232452" cy="160586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Retake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[</a:t>
            </a:r>
            <a:r>
              <a:rPr lang="en-US" dirty="0" err="1"/>
              <a:t>a;b</a:t>
            </a:r>
            <a:r>
              <a:rPr lang="en-US" dirty="0"/>
              <a:t>] thì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và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5733396" y="5136138"/>
            <a:ext cx="1245325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hơn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21" y="5981179"/>
            <a:ext cx="1158826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178907" y="1726151"/>
            <a:ext cx="5231027" cy="1124658"/>
            <a:chOff x="2178907" y="1726151"/>
            <a:chExt cx="5231027" cy="1124658"/>
          </a:xfrm>
        </p:grpSpPr>
        <p:cxnSp>
          <p:nvCxnSpPr>
            <p:cNvPr id="25" name="Straight Arrow Connector 24"/>
            <p:cNvCxnSpPr>
              <a:stCxn id="5" idx="2"/>
              <a:endCxn id="21" idx="0"/>
            </p:cNvCxnSpPr>
            <p:nvPr/>
          </p:nvCxnSpPr>
          <p:spPr>
            <a:xfrm>
              <a:off x="4930913" y="1726151"/>
              <a:ext cx="2479021" cy="1124658"/>
            </a:xfrm>
            <a:prstGeom prst="straightConnector1">
              <a:avLst/>
            </a:prstGeom>
            <a:ln w="1047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5" idx="2"/>
              <a:endCxn id="6" idx="0"/>
            </p:cNvCxnSpPr>
            <p:nvPr/>
          </p:nvCxnSpPr>
          <p:spPr>
            <a:xfrm flipH="1">
              <a:off x="2178907" y="1726151"/>
              <a:ext cx="2752006" cy="1124658"/>
            </a:xfrm>
            <a:prstGeom prst="straightConnector1">
              <a:avLst/>
            </a:prstGeom>
            <a:ln w="1047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6356059" y="4456670"/>
            <a:ext cx="2079770" cy="1524509"/>
            <a:chOff x="6356059" y="4456670"/>
            <a:chExt cx="2079770" cy="1524509"/>
          </a:xfrm>
        </p:grpSpPr>
        <p:cxnSp>
          <p:nvCxnSpPr>
            <p:cNvPr id="29" name="Straight Arrow Connector 28"/>
            <p:cNvCxnSpPr>
              <a:stCxn id="21" idx="2"/>
              <a:endCxn id="23" idx="0"/>
            </p:cNvCxnSpPr>
            <p:nvPr/>
          </p:nvCxnSpPr>
          <p:spPr>
            <a:xfrm>
              <a:off x="7409934" y="4456670"/>
              <a:ext cx="0" cy="1524509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1" idx="2"/>
              <a:endCxn id="20" idx="0"/>
            </p:cNvCxnSpPr>
            <p:nvPr/>
          </p:nvCxnSpPr>
          <p:spPr>
            <a:xfrm>
              <a:off x="7409934" y="4456670"/>
              <a:ext cx="1025895" cy="679468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1" idx="2"/>
              <a:endCxn id="22" idx="0"/>
            </p:cNvCxnSpPr>
            <p:nvPr/>
          </p:nvCxnSpPr>
          <p:spPr>
            <a:xfrm flipH="1">
              <a:off x="6356059" y="4456670"/>
              <a:ext cx="1053875" cy="679468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92047" y="4738458"/>
            <a:ext cx="3973720" cy="1866737"/>
            <a:chOff x="452211" y="5303271"/>
            <a:chExt cx="3549179" cy="1554729"/>
          </a:xfrm>
        </p:grpSpPr>
        <p:pic>
          <p:nvPicPr>
            <p:cNvPr id="35" name="Picture 6" descr="3. Type I and Type II Error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11" y="5303271"/>
              <a:ext cx="3549179" cy="1554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535459" y="5362831"/>
              <a:ext cx="1334531" cy="523220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bg1"/>
                  </a:solidFill>
                </a:rPr>
                <a:t>Sai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lầm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478073" y="2005768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01375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292" y="705048"/>
            <a:ext cx="3267284" cy="13007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33400"/>
            <a:ext cx="1250174" cy="5334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505767" y="187407"/>
                <a:ext cx="2850292" cy="624016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Giả</a:t>
                </a:r>
                <a:r>
                  <a:rPr lang="en-US" dirty="0"/>
                  <a:t> </a:t>
                </a:r>
                <a:r>
                  <a:rPr lang="en-US" dirty="0" err="1"/>
                  <a:t>thuyết</a:t>
                </a:r>
                <a:r>
                  <a:rPr lang="en-US" dirty="0"/>
                  <a:t>: </a:t>
                </a:r>
                <a:r>
                  <a:rPr lang="en-US" dirty="0" err="1"/>
                  <a:t>tham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algn="ctr"/>
                <a:r>
                  <a:rPr lang="en-US" dirty="0"/>
                  <a:t>có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là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baseline="-25000" dirty="0"/>
                  <a:t>0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767" y="187407"/>
                <a:ext cx="2850292" cy="624016"/>
              </a:xfrm>
              <a:prstGeom prst="rect">
                <a:avLst/>
              </a:prstGeom>
              <a:blipFill rotWithShape="0">
                <a:blip r:embed="rId3"/>
                <a:stretch>
                  <a:fillRect t="-5714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505767" y="1314641"/>
            <a:ext cx="2850292" cy="4115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cỡ</a:t>
            </a:r>
            <a:r>
              <a:rPr lang="en-US" dirty="0"/>
              <a:t> 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2681" y="2850809"/>
            <a:ext cx="2232452" cy="16058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Đồng</a:t>
            </a:r>
            <a:r>
              <a:rPr lang="en-US" dirty="0"/>
              <a:t> ý</a:t>
            </a:r>
          </a:p>
        </p:txBody>
      </p:sp>
      <p:sp>
        <p:nvSpPr>
          <p:cNvPr id="10" name="Right Arrow 9"/>
          <p:cNvSpPr/>
          <p:nvPr/>
        </p:nvSpPr>
        <p:spPr>
          <a:xfrm rot="5400000">
            <a:off x="4640020" y="937273"/>
            <a:ext cx="491125" cy="263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7856415" y="5136138"/>
            <a:ext cx="1158827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Cao hơn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93708" y="2850809"/>
            <a:ext cx="2232452" cy="160586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ý và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5733396" y="5136138"/>
            <a:ext cx="1245325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Thấp</a:t>
            </a:r>
            <a:r>
              <a:rPr lang="en-US" dirty="0"/>
              <a:t> hơn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21" y="5981179"/>
            <a:ext cx="1158826" cy="62401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Khác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2178907" y="1726151"/>
            <a:ext cx="5231027" cy="1124658"/>
            <a:chOff x="2178907" y="1726151"/>
            <a:chExt cx="5231027" cy="1124658"/>
          </a:xfrm>
        </p:grpSpPr>
        <p:cxnSp>
          <p:nvCxnSpPr>
            <p:cNvPr id="25" name="Straight Arrow Connector 24"/>
            <p:cNvCxnSpPr>
              <a:stCxn id="5" idx="2"/>
              <a:endCxn id="21" idx="0"/>
            </p:cNvCxnSpPr>
            <p:nvPr/>
          </p:nvCxnSpPr>
          <p:spPr>
            <a:xfrm>
              <a:off x="4930913" y="1726151"/>
              <a:ext cx="2479021" cy="1124658"/>
            </a:xfrm>
            <a:prstGeom prst="straightConnector1">
              <a:avLst/>
            </a:prstGeom>
            <a:ln w="1047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5" idx="2"/>
              <a:endCxn id="6" idx="0"/>
            </p:cNvCxnSpPr>
            <p:nvPr/>
          </p:nvCxnSpPr>
          <p:spPr>
            <a:xfrm flipH="1">
              <a:off x="2178907" y="1726151"/>
              <a:ext cx="2752006" cy="1124658"/>
            </a:xfrm>
            <a:prstGeom prst="straightConnector1">
              <a:avLst/>
            </a:prstGeom>
            <a:ln w="104775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6356059" y="4456670"/>
            <a:ext cx="2079770" cy="1524509"/>
            <a:chOff x="6356059" y="4456670"/>
            <a:chExt cx="2079770" cy="1524509"/>
          </a:xfrm>
        </p:grpSpPr>
        <p:cxnSp>
          <p:nvCxnSpPr>
            <p:cNvPr id="29" name="Straight Arrow Connector 28"/>
            <p:cNvCxnSpPr>
              <a:stCxn id="21" idx="2"/>
              <a:endCxn id="23" idx="0"/>
            </p:cNvCxnSpPr>
            <p:nvPr/>
          </p:nvCxnSpPr>
          <p:spPr>
            <a:xfrm>
              <a:off x="7409934" y="4456670"/>
              <a:ext cx="0" cy="1524509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1" idx="2"/>
              <a:endCxn id="20" idx="0"/>
            </p:cNvCxnSpPr>
            <p:nvPr/>
          </p:nvCxnSpPr>
          <p:spPr>
            <a:xfrm>
              <a:off x="7409934" y="4456670"/>
              <a:ext cx="1025895" cy="679468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1" idx="2"/>
              <a:endCxn id="22" idx="0"/>
            </p:cNvCxnSpPr>
            <p:nvPr/>
          </p:nvCxnSpPr>
          <p:spPr>
            <a:xfrm flipH="1">
              <a:off x="6356059" y="4456670"/>
              <a:ext cx="1053875" cy="679468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92047" y="4738458"/>
            <a:ext cx="3973720" cy="1866737"/>
            <a:chOff x="452211" y="5303271"/>
            <a:chExt cx="3549179" cy="1554729"/>
          </a:xfrm>
        </p:grpSpPr>
        <p:pic>
          <p:nvPicPr>
            <p:cNvPr id="35" name="Picture 6" descr="3. Type I and Type II Error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11" y="5303271"/>
              <a:ext cx="3549179" cy="15547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/>
            <p:cNvSpPr txBox="1"/>
            <p:nvPr/>
          </p:nvSpPr>
          <p:spPr>
            <a:xfrm>
              <a:off x="535459" y="5362831"/>
              <a:ext cx="1334531" cy="523220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>
                  <a:solidFill>
                    <a:schemeClr val="bg1"/>
                  </a:solidFill>
                </a:rPr>
                <a:t>Sai</a:t>
              </a:r>
              <a:r>
                <a:rPr lang="en-US" sz="2800" b="1" dirty="0">
                  <a:solidFill>
                    <a:schemeClr val="bg1"/>
                  </a:solidFill>
                </a:rPr>
                <a:t> </a:t>
              </a:r>
              <a:r>
                <a:rPr lang="en-US" sz="2800" b="1" dirty="0" err="1">
                  <a:solidFill>
                    <a:schemeClr val="bg1"/>
                  </a:solidFill>
                </a:rPr>
                <a:t>lầm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6478073" y="2005768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76696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Critical 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P_value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Confident Interval</a:t>
            </a:r>
          </a:p>
        </p:txBody>
      </p:sp>
    </p:spTree>
    <p:extLst>
      <p:ext uri="{BB962C8B-B14F-4D97-AF65-F5344CB8AC3E}">
        <p14:creationId xmlns:p14="http://schemas.microsoft.com/office/powerpoint/2010/main" val="49557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Value: 6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Define the parameter and the comparing value</a:t>
            </a:r>
          </a:p>
          <a:p>
            <a:r>
              <a:rPr lang="en-US" dirty="0"/>
              <a:t>2. Two hypothesis: H0 &amp; H1 by context</a:t>
            </a:r>
          </a:p>
          <a:p>
            <a:pPr lvl="1"/>
            <a:r>
              <a:rPr lang="en-US" dirty="0"/>
              <a:t> H0: equality sign</a:t>
            </a:r>
          </a:p>
          <a:p>
            <a:pPr lvl="1"/>
            <a:r>
              <a:rPr lang="en-US" dirty="0"/>
              <a:t> H1: never contain equality sign</a:t>
            </a:r>
          </a:p>
          <a:p>
            <a:pPr marL="128016" lvl="1" indent="0">
              <a:buNone/>
            </a:pPr>
            <a:r>
              <a:rPr lang="en-US" sz="2600" dirty="0"/>
              <a:t>3. Define Rejected Region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/>
              <a:t>H1 + alpha  sampling distribution</a:t>
            </a:r>
          </a:p>
          <a:p>
            <a:pPr marL="128016" lvl="1" indent="0">
              <a:buNone/>
            </a:pPr>
            <a:r>
              <a:rPr lang="en-US" sz="2600" dirty="0"/>
              <a:t>4. Calculate Stat Value </a:t>
            </a:r>
            <a:r>
              <a:rPr lang="en-US" sz="2600" dirty="0">
                <a:sym typeface="Wingdings" panose="05000000000000000000" pitchFamily="2" charset="2"/>
              </a:rPr>
              <a:t> Formula + H0 + Sample</a:t>
            </a:r>
            <a:endParaRPr lang="en-US" sz="2600" dirty="0"/>
          </a:p>
          <a:p>
            <a:pPr marL="128016" lvl="1" indent="0">
              <a:buNone/>
            </a:pPr>
            <a:r>
              <a:rPr lang="en-US" sz="2600" dirty="0"/>
              <a:t>5. Compare and give conclude about H0</a:t>
            </a:r>
          </a:p>
          <a:p>
            <a:pPr marL="128016" lvl="1" indent="0">
              <a:buNone/>
            </a:pPr>
            <a:r>
              <a:rPr lang="en-US" sz="2600" dirty="0"/>
              <a:t>6. Conclude about the initial hypothesis</a:t>
            </a:r>
          </a:p>
        </p:txBody>
      </p:sp>
    </p:spTree>
    <p:extLst>
      <p:ext uri="{BB962C8B-B14F-4D97-AF65-F5344CB8AC3E}">
        <p14:creationId xmlns:p14="http://schemas.microsoft.com/office/powerpoint/2010/main" val="15453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 Value: 6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Define the parameter and the comparing value</a:t>
            </a:r>
          </a:p>
          <a:p>
            <a:r>
              <a:rPr lang="en-US" dirty="0"/>
              <a:t>2. Two hypothesis: H0 &amp; H1 by context</a:t>
            </a:r>
          </a:p>
          <a:p>
            <a:pPr lvl="1"/>
            <a:r>
              <a:rPr lang="en-US" dirty="0"/>
              <a:t> H0: equality sign</a:t>
            </a:r>
          </a:p>
          <a:p>
            <a:pPr lvl="1"/>
            <a:r>
              <a:rPr lang="en-US" dirty="0"/>
              <a:t> H1: never contain equality sign</a:t>
            </a:r>
          </a:p>
          <a:p>
            <a:pPr marL="128016" lvl="1" indent="0">
              <a:buNone/>
            </a:pPr>
            <a:r>
              <a:rPr lang="en-US" sz="2600" dirty="0"/>
              <a:t>3. Define Rejected Region </a:t>
            </a:r>
            <a:r>
              <a:rPr lang="en-US" sz="2600" dirty="0">
                <a:sym typeface="Wingdings" panose="05000000000000000000" pitchFamily="2" charset="2"/>
              </a:rPr>
              <a:t> </a:t>
            </a:r>
            <a:r>
              <a:rPr lang="en-US" sz="2600" dirty="0"/>
              <a:t>H1 + sampling distribution</a:t>
            </a:r>
          </a:p>
          <a:p>
            <a:pPr marL="128016" lvl="1" indent="0">
              <a:buNone/>
            </a:pPr>
            <a:r>
              <a:rPr lang="en-US" sz="2600" dirty="0"/>
              <a:t>4. Calculate p-value </a:t>
            </a:r>
            <a:r>
              <a:rPr lang="en-US" sz="2600" dirty="0">
                <a:sym typeface="Wingdings" panose="05000000000000000000" pitchFamily="2" charset="2"/>
              </a:rPr>
              <a:t> Probability of </a:t>
            </a:r>
            <a:r>
              <a:rPr lang="en-US" sz="2600" dirty="0">
                <a:solidFill>
                  <a:srgbClr val="FF0000"/>
                </a:solidFill>
                <a:sym typeface="Wingdings" panose="05000000000000000000" pitchFamily="2" charset="2"/>
              </a:rPr>
              <a:t>Rejected Region + Distribution</a:t>
            </a:r>
            <a:endParaRPr lang="en-US" sz="2600" dirty="0">
              <a:solidFill>
                <a:srgbClr val="FF0000"/>
              </a:solidFill>
            </a:endParaRPr>
          </a:p>
          <a:p>
            <a:pPr marL="128016" lvl="1" indent="0">
              <a:buNone/>
            </a:pPr>
            <a:r>
              <a:rPr lang="en-US" sz="2600" dirty="0"/>
              <a:t>5. Compare </a:t>
            </a:r>
            <a:r>
              <a:rPr lang="en-US" sz="2600" dirty="0" err="1"/>
              <a:t>p_value</a:t>
            </a:r>
            <a:r>
              <a:rPr lang="en-US" sz="2600" dirty="0"/>
              <a:t> and alpha; give conclusion about H0</a:t>
            </a:r>
          </a:p>
          <a:p>
            <a:pPr marL="128016" lvl="1" indent="0">
              <a:buNone/>
            </a:pPr>
            <a:r>
              <a:rPr lang="en-US" sz="2600" dirty="0"/>
              <a:t>6. Conclude about the initial hypothesis</a:t>
            </a:r>
          </a:p>
        </p:txBody>
      </p:sp>
    </p:spTree>
    <p:extLst>
      <p:ext uri="{BB962C8B-B14F-4D97-AF65-F5344CB8AC3E}">
        <p14:creationId xmlns:p14="http://schemas.microsoft.com/office/powerpoint/2010/main" val="2439103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Confident level </a:t>
            </a:r>
            <a:r>
              <a:rPr lang="en-US" dirty="0">
                <a:sym typeface="Wingdings" panose="05000000000000000000" pitchFamily="2" charset="2"/>
              </a:rPr>
              <a:t> significant level</a:t>
            </a:r>
          </a:p>
          <a:p>
            <a:r>
              <a:rPr lang="en-US" dirty="0">
                <a:sym typeface="Wingdings" panose="05000000000000000000" pitchFamily="2" charset="2"/>
              </a:rPr>
              <a:t>2. Parameter + sampling distribution</a:t>
            </a:r>
          </a:p>
          <a:p>
            <a:r>
              <a:rPr lang="en-US" dirty="0">
                <a:sym typeface="Wingdings" panose="05000000000000000000" pitchFamily="2" charset="2"/>
              </a:rPr>
              <a:t>3. Construct the C.I : 2 sided; lower; upper???</a:t>
            </a:r>
          </a:p>
          <a:p>
            <a:r>
              <a:rPr lang="en-US" dirty="0">
                <a:sym typeface="Wingdings" panose="05000000000000000000" pitchFamily="2" charset="2"/>
              </a:rPr>
              <a:t>4. Compare with the initial hypothesis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089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0927" y="1526058"/>
            <a:ext cx="2759677" cy="36864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H0 assumed to be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873211" y="1128582"/>
            <a:ext cx="1388073" cy="1886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Theory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20248" y="1128582"/>
            <a:ext cx="1709352" cy="188646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Observed Value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81880" y="1894701"/>
            <a:ext cx="4217773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1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H0 and H1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38955"/>
              </p:ext>
            </p:extLst>
          </p:nvPr>
        </p:nvGraphicFramePr>
        <p:xfrm>
          <a:off x="331490" y="1054443"/>
          <a:ext cx="8482996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Stated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Parameter </a:t>
                      </a:r>
                    </a:p>
                    <a:p>
                      <a:pPr algn="ctr"/>
                      <a:r>
                        <a:rPr lang="en-US" sz="2400" dirty="0"/>
                        <a:t>notation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Opposite case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54" y="5197629"/>
            <a:ext cx="4522573" cy="13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97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theory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340809"/>
              </p:ext>
            </p:extLst>
          </p:nvPr>
        </p:nvGraphicFramePr>
        <p:xfrm>
          <a:off x="257349" y="1066800"/>
          <a:ext cx="8524185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26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Parameter </a:t>
                      </a:r>
                    </a:p>
                    <a:p>
                      <a:pPr algn="ctr"/>
                      <a:r>
                        <a:rPr lang="en-US" sz="2400" dirty="0"/>
                        <a:t>of</a:t>
                      </a:r>
                      <a:r>
                        <a:rPr lang="en-US" sz="2400" baseline="0" dirty="0"/>
                        <a:t> interest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Critical </a:t>
                      </a:r>
                    </a:p>
                    <a:p>
                      <a:pPr algn="ctr"/>
                      <a:r>
                        <a:rPr lang="en-US" sz="2400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656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observed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961" y="1245972"/>
            <a:ext cx="8277050" cy="5237205"/>
          </a:xfrm>
        </p:spPr>
        <p:txBody>
          <a:bodyPr/>
          <a:lstStyle/>
          <a:p>
            <a:r>
              <a:rPr lang="en-US" dirty="0"/>
              <a:t>Calculate from 3 resources: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Test Statistics;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H0 to be true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Sample</a:t>
            </a:r>
          </a:p>
        </p:txBody>
      </p:sp>
    </p:spTree>
    <p:extLst>
      <p:ext uri="{BB962C8B-B14F-4D97-AF65-F5344CB8AC3E}">
        <p14:creationId xmlns:p14="http://schemas.microsoft.com/office/powerpoint/2010/main" val="422669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rejected 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723" y="1196546"/>
            <a:ext cx="8174077" cy="5311346"/>
          </a:xfrm>
        </p:spPr>
        <p:txBody>
          <a:bodyPr/>
          <a:lstStyle/>
          <a:p>
            <a:r>
              <a:rPr lang="en-US" dirty="0"/>
              <a:t>Derived from: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Neyman</a:t>
            </a:r>
            <a:r>
              <a:rPr lang="en-US" dirty="0"/>
              <a:t> Pearson lemma;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H1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Practical approximation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833" y="412020"/>
            <a:ext cx="3447351" cy="62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28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3" y="864973"/>
            <a:ext cx="7990703" cy="59930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 test</a:t>
            </a:r>
          </a:p>
        </p:txBody>
      </p:sp>
    </p:spTree>
    <p:extLst>
      <p:ext uri="{BB962C8B-B14F-4D97-AF65-F5344CB8AC3E}">
        <p14:creationId xmlns:p14="http://schemas.microsoft.com/office/powerpoint/2010/main" val="3327486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 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21" y="1135951"/>
            <a:ext cx="8027773" cy="555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83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 test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70" y="1147118"/>
            <a:ext cx="7497376" cy="5623032"/>
          </a:xfrm>
        </p:spPr>
      </p:pic>
    </p:spTree>
    <p:extLst>
      <p:ext uri="{BB962C8B-B14F-4D97-AF65-F5344CB8AC3E}">
        <p14:creationId xmlns:p14="http://schemas.microsoft.com/office/powerpoint/2010/main" val="811786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95" y="1173891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Parameter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95" y="210270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H0 and H1?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995" y="3075802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Type and Critical Region?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995" y="4004619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Sample and Observed Statistic?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95" y="5037953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Decision about H0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995" y="607128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Conclusion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894" y="159488"/>
            <a:ext cx="5708203" cy="19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97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180" y="109279"/>
            <a:ext cx="4352925" cy="2619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02D245-A25E-7A91-A596-BA701FCDC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32" y="1218487"/>
            <a:ext cx="208626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32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57665"/>
            <a:ext cx="4200525" cy="2314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030A43-46AA-2A4E-2D05-3AA44F3EF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67" y="1214952"/>
            <a:ext cx="208626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72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534" y="-33454"/>
            <a:ext cx="4382112" cy="1667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0004A7-EFF4-0665-76DC-B180E63A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51" y="1333143"/>
            <a:ext cx="2086266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53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95" y="1173891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Parameter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95" y="210270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H0 and H1?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995" y="3075802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Type and Critical Region?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995" y="4004619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Sample and Observed Statistic?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95" y="5037953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Decision about H0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995" y="607128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Conclusion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8709"/>
            <a:ext cx="4389500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8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95" y="1173891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Parameter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95" y="210270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H0 and H1?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995" y="3075802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Type and Critical Region?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995" y="4004619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Sample and Observed Statistic?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95" y="5037953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Decision about H0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995" y="607128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Conclusion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079" y="113114"/>
            <a:ext cx="4410691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27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95" y="1173891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Parameter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95" y="210270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H0 and H1?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995" y="3075802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Type and Critical Region?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995" y="4004619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Sample and Observed Statistic?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95" y="5037953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Decision about H0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995" y="607128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Conclusion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78" y="0"/>
            <a:ext cx="4458322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40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95" y="1173891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Parameter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95" y="210270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H0 and H1?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995" y="3075802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Type and Critical Region?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995" y="4004619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Sample and Observed Statistic?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95" y="5037953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Decision about H0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995" y="607128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Conclusion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78" y="0"/>
            <a:ext cx="4458322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47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995" y="1173891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Parameter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995" y="210270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H0 and H1?</a:t>
            </a:r>
          </a:p>
        </p:txBody>
      </p:sp>
      <p:sp>
        <p:nvSpPr>
          <p:cNvPr id="6" name="Rectangle 5"/>
          <p:cNvSpPr/>
          <p:nvPr/>
        </p:nvSpPr>
        <p:spPr>
          <a:xfrm>
            <a:off x="172995" y="3075802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Type and Critical Region?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995" y="4004619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Sample and Observed Statistic?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172995" y="5037953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 Decision about H0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995" y="6071287"/>
            <a:ext cx="1993556" cy="626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6. Conclusion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4140"/>
            <a:ext cx="4277322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993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A0040-5743-2C05-2162-4D7FEA2E0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51" y="253397"/>
            <a:ext cx="6507125" cy="216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91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4588476" cy="12857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0277"/>
            <a:ext cx="4522573" cy="13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88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"/>
            <a:ext cx="4588476" cy="12857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50277"/>
            <a:ext cx="4522573" cy="13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142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800" y="121841"/>
            <a:ext cx="4141200" cy="27425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841"/>
            <a:ext cx="43910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59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1" y="1313934"/>
            <a:ext cx="8919573" cy="487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14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định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05134"/>
            <a:ext cx="9034454" cy="305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51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P_value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1777" y="4994190"/>
            <a:ext cx="8151341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Evaluate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p_value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needs: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+ 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heory distribution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+ Observed value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+ Rule of rejection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860" y="95249"/>
            <a:ext cx="6101406" cy="400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10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error</a:t>
            </a: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843" y="1066800"/>
            <a:ext cx="5734050" cy="2705100"/>
          </a:xfrm>
        </p:spPr>
      </p:pic>
      <p:sp>
        <p:nvSpPr>
          <p:cNvPr id="3" name="TextBox 2"/>
          <p:cNvSpPr txBox="1"/>
          <p:nvPr/>
        </p:nvSpPr>
        <p:spPr>
          <a:xfrm>
            <a:off x="3624648" y="533400"/>
            <a:ext cx="484796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Accept the wrong null hypothesis H0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955" y="4722341"/>
            <a:ext cx="8151341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Evaluate beta needs: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+ True value of parameter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true theory distribution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+ Critical value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+ Acceptance rule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8637" y="1309355"/>
            <a:ext cx="1453979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True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936" y="1312219"/>
            <a:ext cx="2016038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Theory  distribution by assuming H0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1783" y="3843635"/>
            <a:ext cx="1855573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Observed value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727448" y="3319850"/>
            <a:ext cx="0" cy="5237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406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68"/>
            <a:ext cx="44100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5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68"/>
            <a:ext cx="44100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70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68"/>
            <a:ext cx="44100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821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94753" cy="397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099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II ERROR procedure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511660"/>
              </p:ext>
            </p:extLst>
          </p:nvPr>
        </p:nvGraphicFramePr>
        <p:xfrm>
          <a:off x="125543" y="1313315"/>
          <a:ext cx="8046390" cy="2377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Accepted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4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6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868700"/>
              </p:ext>
            </p:extLst>
          </p:nvPr>
        </p:nvGraphicFramePr>
        <p:xfrm>
          <a:off x="5905903" y="393079"/>
          <a:ext cx="1182877" cy="757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457200" progId="Equation.3">
                  <p:embed/>
                </p:oleObj>
              </mc:Choice>
              <mc:Fallback>
                <p:oleObj name="Equation" r:id="rId2" imgW="711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903" y="393079"/>
                        <a:ext cx="1182877" cy="757456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342853" y="1937196"/>
            <a:ext cx="7752194" cy="1679129"/>
            <a:chOff x="985406" y="1937196"/>
            <a:chExt cx="7752194" cy="1679129"/>
          </a:xfrm>
        </p:grpSpPr>
        <p:graphicFrame>
          <p:nvGraphicFramePr>
            <p:cNvPr id="11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8658515"/>
                </p:ext>
              </p:extLst>
            </p:nvPr>
          </p:nvGraphicFramePr>
          <p:xfrm>
            <a:off x="2701127" y="1937196"/>
            <a:ext cx="1628183" cy="7709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15920" imgH="482400" progId="Equation.3">
                    <p:embed/>
                  </p:oleObj>
                </mc:Choice>
                <mc:Fallback>
                  <p:oleObj name="Equation" r:id="rId4" imgW="101592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1127" y="1937196"/>
                          <a:ext cx="1628183" cy="77098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4949534"/>
                </p:ext>
              </p:extLst>
            </p:nvPr>
          </p:nvGraphicFramePr>
          <p:xfrm>
            <a:off x="2737871" y="2869506"/>
            <a:ext cx="1554042" cy="746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02960" imgH="482400" progId="Equation.3">
                    <p:embed/>
                  </p:oleObj>
                </mc:Choice>
                <mc:Fallback>
                  <p:oleObj name="Equation" r:id="rId6" imgW="100296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7871" y="2869506"/>
                          <a:ext cx="1554042" cy="7468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2374101"/>
                </p:ext>
              </p:extLst>
            </p:nvPr>
          </p:nvGraphicFramePr>
          <p:xfrm>
            <a:off x="4612268" y="1983339"/>
            <a:ext cx="2119629" cy="7248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33440" imgH="457200" progId="Equation.3">
                    <p:embed/>
                  </p:oleObj>
                </mc:Choice>
                <mc:Fallback>
                  <p:oleObj name="Equation" r:id="rId8" imgW="133344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2268" y="1983339"/>
                          <a:ext cx="2119629" cy="72483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2069990"/>
                </p:ext>
              </p:extLst>
            </p:nvPr>
          </p:nvGraphicFramePr>
          <p:xfrm>
            <a:off x="4548849" y="2832003"/>
            <a:ext cx="2123603" cy="720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07880" imgH="444240" progId="Equation.3">
                    <p:embed/>
                  </p:oleObj>
                </mc:Choice>
                <mc:Fallback>
                  <p:oleObj name="Equation" r:id="rId10" imgW="130788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8849" y="2832003"/>
                          <a:ext cx="2123603" cy="7203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2486025"/>
                </p:ext>
              </p:extLst>
            </p:nvPr>
          </p:nvGraphicFramePr>
          <p:xfrm>
            <a:off x="985406" y="2109873"/>
            <a:ext cx="1138712" cy="364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11000" imgH="228600" progId="Equation.3">
                    <p:embed/>
                  </p:oleObj>
                </mc:Choice>
                <mc:Fallback>
                  <p:oleObj name="Equation" r:id="rId12" imgW="711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5406" y="2109873"/>
                          <a:ext cx="1138712" cy="364588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7634131"/>
                </p:ext>
              </p:extLst>
            </p:nvPr>
          </p:nvGraphicFramePr>
          <p:xfrm>
            <a:off x="1006518" y="2889250"/>
            <a:ext cx="1117600" cy="727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698400" imgH="457200" progId="Equation.3">
                    <p:embed/>
                  </p:oleObj>
                </mc:Choice>
                <mc:Fallback>
                  <p:oleObj name="Equation" r:id="rId14" imgW="698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6518" y="2889250"/>
                          <a:ext cx="1117600" cy="72707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9525">
                          <a:solidFill>
                            <a:srgbClr val="FFFF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1028938"/>
                </p:ext>
              </p:extLst>
            </p:nvPr>
          </p:nvGraphicFramePr>
          <p:xfrm>
            <a:off x="7257400" y="1991725"/>
            <a:ext cx="1162050" cy="454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47640" imgH="253800" progId="Equation.3">
                    <p:embed/>
                  </p:oleObj>
                </mc:Choice>
                <mc:Fallback>
                  <p:oleObj name="Equation" r:id="rId16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7400" y="1991725"/>
                          <a:ext cx="1162050" cy="45402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987772"/>
                </p:ext>
              </p:extLst>
            </p:nvPr>
          </p:nvGraphicFramePr>
          <p:xfrm>
            <a:off x="6937375" y="2909888"/>
            <a:ext cx="1800225" cy="665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31560" imgH="457200" progId="Equation.3">
                    <p:embed/>
                  </p:oleObj>
                </mc:Choice>
                <mc:Fallback>
                  <p:oleObj name="Equation" r:id="rId18" imgW="12315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7375" y="2909888"/>
                          <a:ext cx="1800225" cy="66516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Up-Down Arrow 18"/>
            <p:cNvSpPr/>
            <p:nvPr/>
          </p:nvSpPr>
          <p:spPr>
            <a:xfrm>
              <a:off x="7624242" y="2488496"/>
              <a:ext cx="214183" cy="400754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019841"/>
              </p:ext>
            </p:extLst>
          </p:nvPr>
        </p:nvGraphicFramePr>
        <p:xfrm>
          <a:off x="8095047" y="2066476"/>
          <a:ext cx="930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7200" imgH="203040" progId="Equation.3">
                  <p:embed/>
                </p:oleObj>
              </mc:Choice>
              <mc:Fallback>
                <p:oleObj name="Equation" r:id="rId20" imgW="457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5047" y="2066476"/>
                        <a:ext cx="930275" cy="412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971458"/>
              </p:ext>
            </p:extLst>
          </p:nvPr>
        </p:nvGraphicFramePr>
        <p:xfrm>
          <a:off x="8223634" y="3011986"/>
          <a:ext cx="6731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0120" imgH="177480" progId="Equation.3">
                  <p:embed/>
                </p:oleObj>
              </mc:Choice>
              <mc:Fallback>
                <p:oleObj name="Equation" r:id="rId22" imgW="3301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634" y="3011986"/>
                        <a:ext cx="673100" cy="3603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412573"/>
              </p:ext>
            </p:extLst>
          </p:nvPr>
        </p:nvGraphicFramePr>
        <p:xfrm>
          <a:off x="381121" y="3830186"/>
          <a:ext cx="486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60360" imgH="457200" progId="Equation.3">
                  <p:embed/>
                </p:oleObj>
              </mc:Choice>
              <mc:Fallback>
                <p:oleObj name="Equation" r:id="rId24" imgW="30603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21" y="3830186"/>
                        <a:ext cx="48641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558304"/>
              </p:ext>
            </p:extLst>
          </p:nvPr>
        </p:nvGraphicFramePr>
        <p:xfrm>
          <a:off x="342853" y="4764231"/>
          <a:ext cx="451326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14600" imgH="253800" progId="Equation.3">
                  <p:embed/>
                </p:oleObj>
              </mc:Choice>
              <mc:Fallback>
                <p:oleObj name="Equation" r:id="rId26" imgW="2514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53" y="4764231"/>
                        <a:ext cx="4513263" cy="452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131339"/>
              </p:ext>
            </p:extLst>
          </p:nvPr>
        </p:nvGraphicFramePr>
        <p:xfrm>
          <a:off x="1507691" y="5557504"/>
          <a:ext cx="6269206" cy="697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44440" imgH="228600" progId="Equation.3">
                  <p:embed/>
                </p:oleObj>
              </mc:Choice>
              <mc:Fallback>
                <p:oleObj name="Equation" r:id="rId28" imgW="2044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691" y="5557504"/>
                        <a:ext cx="6269206" cy="69718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418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II ERROR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865" y="321878"/>
            <a:ext cx="3351935" cy="2441083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07027"/>
              </p:ext>
            </p:extLst>
          </p:nvPr>
        </p:nvGraphicFramePr>
        <p:xfrm>
          <a:off x="6554788" y="3906844"/>
          <a:ext cx="179863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457200" progId="Equation.3">
                  <p:embed/>
                </p:oleObj>
              </mc:Choice>
              <mc:Fallback>
                <p:oleObj name="Equation" r:id="rId3" imgW="12315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3906844"/>
                        <a:ext cx="1798637" cy="665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2730998"/>
              </p:ext>
            </p:extLst>
          </p:nvPr>
        </p:nvGraphicFramePr>
        <p:xfrm>
          <a:off x="5545774" y="4861114"/>
          <a:ext cx="337978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11200" imgH="419040" progId="Equation.3">
                  <p:embed/>
                </p:oleObj>
              </mc:Choice>
              <mc:Fallback>
                <p:oleObj name="Equation" r:id="rId5" imgW="23112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774" y="4861114"/>
                        <a:ext cx="3379787" cy="6111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844" y="1164006"/>
            <a:ext cx="2891700" cy="4198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625" y="2057228"/>
            <a:ext cx="3248700" cy="7057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1725" y="3402342"/>
            <a:ext cx="1606500" cy="6878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336" y="4916431"/>
            <a:ext cx="3819900" cy="11792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40806" y="5849031"/>
            <a:ext cx="3589722" cy="708454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Brief: recomputed the accepted area with new range</a:t>
            </a:r>
          </a:p>
        </p:txBody>
      </p:sp>
    </p:spTree>
    <p:extLst>
      <p:ext uri="{BB962C8B-B14F-4D97-AF65-F5344CB8AC3E}">
        <p14:creationId xmlns:p14="http://schemas.microsoft.com/office/powerpoint/2010/main" val="281941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error of mean, sigma known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222114"/>
              </p:ext>
            </p:extLst>
          </p:nvPr>
        </p:nvGraphicFramePr>
        <p:xfrm>
          <a:off x="768096" y="1280364"/>
          <a:ext cx="8087581" cy="4410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9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03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471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36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64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593122"/>
              </p:ext>
            </p:extLst>
          </p:nvPr>
        </p:nvGraphicFramePr>
        <p:xfrm>
          <a:off x="849313" y="2274888"/>
          <a:ext cx="95408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03040" progId="Equation.3">
                  <p:embed/>
                </p:oleObj>
              </mc:Choice>
              <mc:Fallback>
                <p:oleObj name="Equation" r:id="rId2" imgW="596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274888"/>
                        <a:ext cx="954087" cy="323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299863"/>
              </p:ext>
            </p:extLst>
          </p:nvPr>
        </p:nvGraphicFramePr>
        <p:xfrm>
          <a:off x="1001713" y="3511550"/>
          <a:ext cx="649287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164880" progId="Equation.3">
                  <p:embed/>
                </p:oleObj>
              </mc:Choice>
              <mc:Fallback>
                <p:oleObj name="Equation" r:id="rId4" imgW="4060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3511550"/>
                        <a:ext cx="649287" cy="2635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455170"/>
              </p:ext>
            </p:extLst>
          </p:nvPr>
        </p:nvGraphicFramePr>
        <p:xfrm>
          <a:off x="1020763" y="4764882"/>
          <a:ext cx="63023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177480" progId="Equation.3">
                  <p:embed/>
                </p:oleObj>
              </mc:Choice>
              <mc:Fallback>
                <p:oleObj name="Equation" r:id="rId6" imgW="393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4764882"/>
                        <a:ext cx="630237" cy="28416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745154"/>
              </p:ext>
            </p:extLst>
          </p:nvPr>
        </p:nvGraphicFramePr>
        <p:xfrm>
          <a:off x="2099275" y="2071688"/>
          <a:ext cx="39179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50880" imgH="457200" progId="Equation.3">
                  <p:embed/>
                </p:oleObj>
              </mc:Choice>
              <mc:Fallback>
                <p:oleObj name="Equation" r:id="rId8" imgW="2450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275" y="2071688"/>
                        <a:ext cx="3917950" cy="7302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520224"/>
              </p:ext>
            </p:extLst>
          </p:nvPr>
        </p:nvGraphicFramePr>
        <p:xfrm>
          <a:off x="3106738" y="3273425"/>
          <a:ext cx="16430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520" imgH="457200" progId="Equation.3">
                  <p:embed/>
                </p:oleObj>
              </mc:Choice>
              <mc:Fallback>
                <p:oleObj name="Equation" r:id="rId10" imgW="10285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3273425"/>
                        <a:ext cx="1643062" cy="7302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197726"/>
              </p:ext>
            </p:extLst>
          </p:nvPr>
        </p:nvGraphicFramePr>
        <p:xfrm>
          <a:off x="2873375" y="4541838"/>
          <a:ext cx="21113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480" imgH="457200" progId="Equation.3">
                  <p:embed/>
                </p:oleObj>
              </mc:Choice>
              <mc:Fallback>
                <p:oleObj name="Equation" r:id="rId12" imgW="13204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4541838"/>
                        <a:ext cx="2111375" cy="7302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872893"/>
              </p:ext>
            </p:extLst>
          </p:nvPr>
        </p:nvGraphicFramePr>
        <p:xfrm>
          <a:off x="6491589" y="2071688"/>
          <a:ext cx="15621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760" imgH="444240" progId="Equation.3">
                  <p:embed/>
                </p:oleObj>
              </mc:Choice>
              <mc:Fallback>
                <p:oleObj name="Equation" r:id="rId14" imgW="977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589" y="2071688"/>
                        <a:ext cx="1562100" cy="7096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007505"/>
              </p:ext>
            </p:extLst>
          </p:nvPr>
        </p:nvGraphicFramePr>
        <p:xfrm>
          <a:off x="6510338" y="3252788"/>
          <a:ext cx="14001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444240" progId="Equation.3">
                  <p:embed/>
                </p:oleObj>
              </mc:Choice>
              <mc:Fallback>
                <p:oleObj name="Equation" r:id="rId16" imgW="876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338" y="3252788"/>
                        <a:ext cx="1400175" cy="70961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099747"/>
              </p:ext>
            </p:extLst>
          </p:nvPr>
        </p:nvGraphicFramePr>
        <p:xfrm>
          <a:off x="6572551" y="4552157"/>
          <a:ext cx="14001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76240" imgH="444240" progId="Equation.3">
                  <p:embed/>
                </p:oleObj>
              </mc:Choice>
              <mc:Fallback>
                <p:oleObj name="Equation" r:id="rId18" imgW="876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551" y="4552157"/>
                        <a:ext cx="1400175" cy="7096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8935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aid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318" y="1432719"/>
            <a:ext cx="1734062" cy="11973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distribution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Accepted range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4178" y="1818477"/>
            <a:ext cx="1519148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413326" y="4102019"/>
            <a:ext cx="1434113" cy="14049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Transform accepted range to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7475474" y="3215870"/>
            <a:ext cx="1309818" cy="278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28165" y="4398976"/>
            <a:ext cx="1865871" cy="9583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Beta =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Prob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ight Arrow 16"/>
          <p:cNvSpPr/>
          <p:nvPr/>
        </p:nvSpPr>
        <p:spPr>
          <a:xfrm rot="10800000">
            <a:off x="3144795" y="4738114"/>
            <a:ext cx="4217773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25165"/>
              </p:ext>
            </p:extLst>
          </p:nvPr>
        </p:nvGraphicFramePr>
        <p:xfrm>
          <a:off x="2469721" y="1454150"/>
          <a:ext cx="11715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28600" progId="Equation.3">
                  <p:embed/>
                </p:oleObj>
              </mc:Choice>
              <mc:Fallback>
                <p:oleObj name="Equation" r:id="rId2" imgW="736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721" y="1454150"/>
                        <a:ext cx="1171575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837379"/>
              </p:ext>
            </p:extLst>
          </p:nvPr>
        </p:nvGraphicFramePr>
        <p:xfrm>
          <a:off x="2477659" y="2203148"/>
          <a:ext cx="11636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253800" progId="Equation.3">
                  <p:embed/>
                </p:oleObj>
              </mc:Choice>
              <mc:Fallback>
                <p:oleObj name="Equation" r:id="rId4" imgW="647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659" y="2203148"/>
                        <a:ext cx="1163637" cy="4540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601548"/>
              </p:ext>
            </p:extLst>
          </p:nvPr>
        </p:nvGraphicFramePr>
        <p:xfrm>
          <a:off x="7332663" y="658669"/>
          <a:ext cx="15954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419040" progId="Equation.3">
                  <p:embed/>
                </p:oleObj>
              </mc:Choice>
              <mc:Fallback>
                <p:oleObj name="Equation" r:id="rId6" imgW="1091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658669"/>
                        <a:ext cx="1595438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626666"/>
              </p:ext>
            </p:extLst>
          </p:nvPr>
        </p:nvGraphicFramePr>
        <p:xfrm>
          <a:off x="4385920" y="1066800"/>
          <a:ext cx="105727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215640" progId="Equation.3">
                  <p:embed/>
                </p:oleObj>
              </mc:Choice>
              <mc:Fallback>
                <p:oleObj name="Equation" r:id="rId8" imgW="723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920" y="1066800"/>
                        <a:ext cx="1057275" cy="312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3824421" y="1398588"/>
            <a:ext cx="2042979" cy="11973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distribution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61286" y="1818477"/>
            <a:ext cx="1536357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413327" y="1427827"/>
            <a:ext cx="1434112" cy="12293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and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01897"/>
              </p:ext>
            </p:extLst>
          </p:nvPr>
        </p:nvGraphicFramePr>
        <p:xfrm>
          <a:off x="7334251" y="5599222"/>
          <a:ext cx="15938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1880" imgH="419040" progId="Equation.3">
                  <p:embed/>
                </p:oleObj>
              </mc:Choice>
              <mc:Fallback>
                <p:oleObj name="Equation" r:id="rId10" imgW="1091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1" y="5599222"/>
                        <a:ext cx="159385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4136" y="5489002"/>
            <a:ext cx="3534300" cy="82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1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23503" cy="379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299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</a:t>
            </a:r>
          </a:p>
        </p:txBody>
      </p:sp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355287"/>
              </p:ext>
            </p:extLst>
          </p:nvPr>
        </p:nvGraphicFramePr>
        <p:xfrm>
          <a:off x="1031458" y="2589213"/>
          <a:ext cx="6704012" cy="347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16320" imgH="2184120" progId="Equation.3">
                  <p:embed/>
                </p:oleObj>
              </mc:Choice>
              <mc:Fallback>
                <p:oleObj name="Equation" r:id="rId2" imgW="4216320" imgH="2184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458" y="2589213"/>
                        <a:ext cx="6704012" cy="347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294571"/>
              </p:ext>
            </p:extLst>
          </p:nvPr>
        </p:nvGraphicFramePr>
        <p:xfrm>
          <a:off x="701945" y="1159476"/>
          <a:ext cx="2605087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622080" progId="Equation.3">
                  <p:embed/>
                </p:oleObj>
              </mc:Choice>
              <mc:Fallback>
                <p:oleObj name="Equation" r:id="rId4" imgW="163800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45" y="1159476"/>
                        <a:ext cx="2605087" cy="989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615861"/>
              </p:ext>
            </p:extLst>
          </p:nvPr>
        </p:nvGraphicFramePr>
        <p:xfrm>
          <a:off x="5582357" y="1066800"/>
          <a:ext cx="2544763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622080" progId="Equation.3">
                  <p:embed/>
                </p:oleObj>
              </mc:Choice>
              <mc:Fallback>
                <p:oleObj name="Equation" r:id="rId6" imgW="160020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2357" y="1066800"/>
                        <a:ext cx="2544763" cy="989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5531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aid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318" y="1432719"/>
            <a:ext cx="1734062" cy="11973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distribution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Accepted range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4178" y="1818477"/>
            <a:ext cx="1519148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413326" y="4102019"/>
            <a:ext cx="1434113" cy="14049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Transform accepted range to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7475474" y="3215870"/>
            <a:ext cx="1309818" cy="278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28165" y="4398976"/>
            <a:ext cx="1865871" cy="9583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Beta =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Prob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ight Arrow 16"/>
          <p:cNvSpPr/>
          <p:nvPr/>
        </p:nvSpPr>
        <p:spPr>
          <a:xfrm rot="10800000">
            <a:off x="3144795" y="4738114"/>
            <a:ext cx="4217773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25165"/>
              </p:ext>
            </p:extLst>
          </p:nvPr>
        </p:nvGraphicFramePr>
        <p:xfrm>
          <a:off x="2469721" y="1454150"/>
          <a:ext cx="117157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228600" progId="Equation.3">
                  <p:embed/>
                </p:oleObj>
              </mc:Choice>
              <mc:Fallback>
                <p:oleObj name="Equation" r:id="rId2" imgW="736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9721" y="1454150"/>
                        <a:ext cx="1171575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837379"/>
              </p:ext>
            </p:extLst>
          </p:nvPr>
        </p:nvGraphicFramePr>
        <p:xfrm>
          <a:off x="2477659" y="2203148"/>
          <a:ext cx="11636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253800" progId="Equation.3">
                  <p:embed/>
                </p:oleObj>
              </mc:Choice>
              <mc:Fallback>
                <p:oleObj name="Equation" r:id="rId4" imgW="647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659" y="2203148"/>
                        <a:ext cx="1163637" cy="4540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626666"/>
              </p:ext>
            </p:extLst>
          </p:nvPr>
        </p:nvGraphicFramePr>
        <p:xfrm>
          <a:off x="4385920" y="1066800"/>
          <a:ext cx="105727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3600" imgH="215640" progId="Equation.3">
                  <p:embed/>
                </p:oleObj>
              </mc:Choice>
              <mc:Fallback>
                <p:oleObj name="Equation" r:id="rId6" imgW="723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920" y="1066800"/>
                        <a:ext cx="1057275" cy="312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3824421" y="1398588"/>
            <a:ext cx="2042979" cy="11973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distribution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61286" y="1818477"/>
            <a:ext cx="1536357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413327" y="1427827"/>
            <a:ext cx="1434112" cy="12293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and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graphicFrame>
        <p:nvGraphicFramePr>
          <p:cNvPr id="2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637959"/>
              </p:ext>
            </p:extLst>
          </p:nvPr>
        </p:nvGraphicFramePr>
        <p:xfrm>
          <a:off x="6408435" y="230489"/>
          <a:ext cx="2652584" cy="102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8920" imgH="838080" progId="Equation.3">
                  <p:embed/>
                </p:oleObj>
              </mc:Choice>
              <mc:Fallback>
                <p:oleObj name="Equation" r:id="rId8" imgW="2158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435" y="230489"/>
                        <a:ext cx="2652584" cy="102937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729217"/>
              </p:ext>
            </p:extLst>
          </p:nvPr>
        </p:nvGraphicFramePr>
        <p:xfrm>
          <a:off x="5654418" y="5619740"/>
          <a:ext cx="34163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81000" imgH="838080" progId="Equation.3">
                  <p:embed/>
                </p:oleObj>
              </mc:Choice>
              <mc:Fallback>
                <p:oleObj name="Equation" r:id="rId10" imgW="27810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418" y="5619740"/>
                        <a:ext cx="3416300" cy="1030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355133"/>
              </p:ext>
            </p:extLst>
          </p:nvPr>
        </p:nvGraphicFramePr>
        <p:xfrm>
          <a:off x="3267042" y="3898629"/>
          <a:ext cx="4068099" cy="86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41520" imgH="901440" progId="Equation.3">
                  <p:embed/>
                </p:oleObj>
              </mc:Choice>
              <mc:Fallback>
                <p:oleObj name="Equation" r:id="rId12" imgW="42415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42" y="3898629"/>
                        <a:ext cx="4068099" cy="86465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59921" y="5530130"/>
            <a:ext cx="5523710" cy="85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50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Unknown sigma</a:t>
            </a: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59431"/>
              </p:ext>
            </p:extLst>
          </p:nvPr>
        </p:nvGraphicFramePr>
        <p:xfrm>
          <a:off x="2991622" y="2345211"/>
          <a:ext cx="27463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863280" progId="Equation.3">
                  <p:embed/>
                </p:oleObj>
              </mc:Choice>
              <mc:Fallback>
                <p:oleObj name="Equation" r:id="rId2" imgW="1726920" imgH="863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1622" y="2345211"/>
                        <a:ext cx="2746375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340714"/>
              </p:ext>
            </p:extLst>
          </p:nvPr>
        </p:nvGraphicFramePr>
        <p:xfrm>
          <a:off x="923925" y="1289050"/>
          <a:ext cx="21605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457200" progId="Equation.3">
                  <p:embed/>
                </p:oleObj>
              </mc:Choice>
              <mc:Fallback>
                <p:oleObj name="Equation" r:id="rId4" imgW="1358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1289050"/>
                        <a:ext cx="2160588" cy="727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795351"/>
              </p:ext>
            </p:extLst>
          </p:nvPr>
        </p:nvGraphicFramePr>
        <p:xfrm>
          <a:off x="5181600" y="1222375"/>
          <a:ext cx="21209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444240" progId="Equation.3">
                  <p:embed/>
                </p:oleObj>
              </mc:Choice>
              <mc:Fallback>
                <p:oleObj name="Equation" r:id="rId6" imgW="1333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222375"/>
                        <a:ext cx="2120900" cy="706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0374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aid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318" y="1432719"/>
            <a:ext cx="1734062" cy="11973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distribution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Accepted range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4178" y="1818477"/>
            <a:ext cx="1519148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413326" y="4102019"/>
            <a:ext cx="1434113" cy="14049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Transform accepted range to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7475474" y="3215870"/>
            <a:ext cx="1309818" cy="278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28165" y="4398976"/>
            <a:ext cx="1865871" cy="9583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Beta =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Prob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ight Arrow 16"/>
          <p:cNvSpPr/>
          <p:nvPr/>
        </p:nvSpPr>
        <p:spPr>
          <a:xfrm rot="10800000">
            <a:off x="3144795" y="4738114"/>
            <a:ext cx="4217773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227028"/>
              </p:ext>
            </p:extLst>
          </p:nvPr>
        </p:nvGraphicFramePr>
        <p:xfrm>
          <a:off x="2451100" y="1454150"/>
          <a:ext cx="121126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28600" progId="Equation.3">
                  <p:embed/>
                </p:oleObj>
              </mc:Choice>
              <mc:Fallback>
                <p:oleObj name="Equation" r:id="rId2" imgW="761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1454150"/>
                        <a:ext cx="1211263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839592"/>
              </p:ext>
            </p:extLst>
          </p:nvPr>
        </p:nvGraphicFramePr>
        <p:xfrm>
          <a:off x="2243492" y="2170196"/>
          <a:ext cx="1473200" cy="38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253800" progId="Equation.3">
                  <p:embed/>
                </p:oleObj>
              </mc:Choice>
              <mc:Fallback>
                <p:oleObj name="Equation" r:id="rId4" imgW="9651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492" y="2170196"/>
                        <a:ext cx="1473200" cy="38548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835202"/>
              </p:ext>
            </p:extLst>
          </p:nvPr>
        </p:nvGraphicFramePr>
        <p:xfrm>
          <a:off x="4368800" y="1066800"/>
          <a:ext cx="1093788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49160" imgH="215640" progId="Equation.3">
                  <p:embed/>
                </p:oleObj>
              </mc:Choice>
              <mc:Fallback>
                <p:oleObj name="Equation" r:id="rId6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1066800"/>
                        <a:ext cx="1093788" cy="312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3824421" y="1398588"/>
            <a:ext cx="2042979" cy="11973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distribution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61286" y="1818477"/>
            <a:ext cx="1536357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413327" y="1427827"/>
            <a:ext cx="1434112" cy="12293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and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graphicFrame>
        <p:nvGraphicFramePr>
          <p:cNvPr id="2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637959"/>
              </p:ext>
            </p:extLst>
          </p:nvPr>
        </p:nvGraphicFramePr>
        <p:xfrm>
          <a:off x="6408435" y="230489"/>
          <a:ext cx="2652584" cy="1029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8920" imgH="838080" progId="Equation.3">
                  <p:embed/>
                </p:oleObj>
              </mc:Choice>
              <mc:Fallback>
                <p:oleObj name="Equation" r:id="rId8" imgW="215892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435" y="230489"/>
                        <a:ext cx="2652584" cy="102937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729217"/>
              </p:ext>
            </p:extLst>
          </p:nvPr>
        </p:nvGraphicFramePr>
        <p:xfrm>
          <a:off x="5654418" y="5619740"/>
          <a:ext cx="34163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81000" imgH="838080" progId="Equation.3">
                  <p:embed/>
                </p:oleObj>
              </mc:Choice>
              <mc:Fallback>
                <p:oleObj name="Equation" r:id="rId10" imgW="27810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418" y="5619740"/>
                        <a:ext cx="3416300" cy="1030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355133"/>
              </p:ext>
            </p:extLst>
          </p:nvPr>
        </p:nvGraphicFramePr>
        <p:xfrm>
          <a:off x="3267042" y="3898629"/>
          <a:ext cx="4068099" cy="864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241520" imgH="901440" progId="Equation.3">
                  <p:embed/>
                </p:oleObj>
              </mc:Choice>
              <mc:Fallback>
                <p:oleObj name="Equation" r:id="rId12" imgW="42415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42" y="3898629"/>
                        <a:ext cx="4068099" cy="86465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59921" y="5530130"/>
            <a:ext cx="5523710" cy="85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984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proportion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609902"/>
              </p:ext>
            </p:extLst>
          </p:nvPr>
        </p:nvGraphicFramePr>
        <p:xfrm>
          <a:off x="5525876" y="1180862"/>
          <a:ext cx="107156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253800" progId="Equation.3">
                  <p:embed/>
                </p:oleObj>
              </mc:Choice>
              <mc:Fallback>
                <p:oleObj name="Equation" r:id="rId2" imgW="596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876" y="1180862"/>
                        <a:ext cx="1071562" cy="4540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58260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proportion</a:t>
            </a:r>
          </a:p>
        </p:txBody>
      </p:sp>
      <p:graphicFrame>
        <p:nvGraphicFramePr>
          <p:cNvPr id="2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547966"/>
              </p:ext>
            </p:extLst>
          </p:nvPr>
        </p:nvGraphicFramePr>
        <p:xfrm>
          <a:off x="817563" y="1370013"/>
          <a:ext cx="7820025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520" imgH="901440" progId="Equation.3">
                  <p:embed/>
                </p:oleObj>
              </mc:Choice>
              <mc:Fallback>
                <p:oleObj name="Equation" r:id="rId2" imgW="4241520" imgH="901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1370013"/>
                        <a:ext cx="7820025" cy="1662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647" y="3502306"/>
            <a:ext cx="6318900" cy="97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10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beta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532342"/>
              </p:ext>
            </p:extLst>
          </p:nvPr>
        </p:nvGraphicFramePr>
        <p:xfrm>
          <a:off x="487680" y="1379220"/>
          <a:ext cx="8572501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Acceptance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Prob</a:t>
                      </a:r>
                      <a:r>
                        <a:rPr lang="en-US" dirty="0"/>
                        <a:t> of</a:t>
                      </a:r>
                      <a:r>
                        <a:rPr lang="en-US" baseline="0" dirty="0"/>
                        <a:t> acceptance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Modify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2 sided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Between </a:t>
                      </a:r>
                      <a:r>
                        <a:rPr lang="en-US" dirty="0" err="1"/>
                        <a:t>Crit_Val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Greater than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Less</a:t>
                      </a:r>
                      <a:r>
                        <a:rPr lang="en-US" baseline="0" dirty="0"/>
                        <a:t> than </a:t>
                      </a:r>
                      <a:r>
                        <a:rPr lang="en-US" baseline="0" dirty="0" err="1"/>
                        <a:t>Crit_Val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Les</a:t>
                      </a:r>
                      <a:r>
                        <a:rPr lang="en-US" baseline="0" dirty="0"/>
                        <a:t>s than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Greater than </a:t>
                      </a:r>
                      <a:r>
                        <a:rPr lang="en-US" dirty="0" err="1"/>
                        <a:t>Crit_val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753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</a:t>
            </a: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153342"/>
              </p:ext>
            </p:extLst>
          </p:nvPr>
        </p:nvGraphicFramePr>
        <p:xfrm>
          <a:off x="768096" y="2263346"/>
          <a:ext cx="371633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457200" progId="Equation.3">
                  <p:embed/>
                </p:oleObj>
              </mc:Choice>
              <mc:Fallback>
                <p:oleObj name="Equation" r:id="rId2" imgW="2336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96" y="2263346"/>
                        <a:ext cx="3716337" cy="7254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767334"/>
              </p:ext>
            </p:extLst>
          </p:nvPr>
        </p:nvGraphicFramePr>
        <p:xfrm>
          <a:off x="896980" y="1171406"/>
          <a:ext cx="61372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60640" imgH="457200" progId="Equation.3">
                  <p:embed/>
                </p:oleObj>
              </mc:Choice>
              <mc:Fallback>
                <p:oleObj name="Equation" r:id="rId4" imgW="3860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80" y="1171406"/>
                        <a:ext cx="6137275" cy="727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20193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Memory aid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318" y="1432719"/>
            <a:ext cx="1734062" cy="11973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Old distribution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Accepted range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4178" y="1818477"/>
            <a:ext cx="1519148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413326" y="4102019"/>
            <a:ext cx="1434113" cy="14049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Transform accepted range to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7475474" y="3215870"/>
            <a:ext cx="1309818" cy="2780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28165" y="4398976"/>
            <a:ext cx="1865871" cy="9583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Beta =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Prob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ight Arrow 16"/>
          <p:cNvSpPr/>
          <p:nvPr/>
        </p:nvSpPr>
        <p:spPr>
          <a:xfrm rot="10800000">
            <a:off x="3144795" y="4738114"/>
            <a:ext cx="4217773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53962"/>
              </p:ext>
            </p:extLst>
          </p:nvPr>
        </p:nvGraphicFramePr>
        <p:xfrm>
          <a:off x="2349500" y="1444625"/>
          <a:ext cx="14144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241200" progId="Equation.3">
                  <p:embed/>
                </p:oleObj>
              </mc:Choice>
              <mc:Fallback>
                <p:oleObj name="Equation" r:id="rId2" imgW="8888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1444625"/>
                        <a:ext cx="1414463" cy="384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159061"/>
              </p:ext>
            </p:extLst>
          </p:nvPr>
        </p:nvGraphicFramePr>
        <p:xfrm>
          <a:off x="2298986" y="2098564"/>
          <a:ext cx="1427162" cy="61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4080" imgH="457200" progId="Equation.3">
                  <p:embed/>
                </p:oleObj>
              </mc:Choice>
              <mc:Fallback>
                <p:oleObj name="Equation" r:id="rId4" imgW="1054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986" y="2098564"/>
                        <a:ext cx="1427162" cy="61505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450715"/>
              </p:ext>
            </p:extLst>
          </p:nvPr>
        </p:nvGraphicFramePr>
        <p:xfrm>
          <a:off x="4286250" y="1058863"/>
          <a:ext cx="12604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28600" progId="Equation.3">
                  <p:embed/>
                </p:oleObj>
              </mc:Choice>
              <mc:Fallback>
                <p:oleObj name="Equation" r:id="rId6" imgW="863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1058863"/>
                        <a:ext cx="1260475" cy="330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3824421" y="1398588"/>
            <a:ext cx="2042979" cy="119735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Z</a:t>
            </a:r>
            <a:r>
              <a:rPr lang="en-US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distribution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261286" y="1818477"/>
            <a:ext cx="1536357" cy="280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413327" y="1427827"/>
            <a:ext cx="1434112" cy="12293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and Z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graphicFrame>
        <p:nvGraphicFramePr>
          <p:cNvPr id="2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447009"/>
              </p:ext>
            </p:extLst>
          </p:nvPr>
        </p:nvGraphicFramePr>
        <p:xfrm>
          <a:off x="7627251" y="624397"/>
          <a:ext cx="8731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457200" progId="Equation.3">
                  <p:embed/>
                </p:oleObj>
              </mc:Choice>
              <mc:Fallback>
                <p:oleObj name="Equation" r:id="rId8" imgW="711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7251" y="624397"/>
                        <a:ext cx="873125" cy="561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156631"/>
              </p:ext>
            </p:extLst>
          </p:nvPr>
        </p:nvGraphicFramePr>
        <p:xfrm>
          <a:off x="7413326" y="5692392"/>
          <a:ext cx="1435787" cy="1038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914400" progId="Equation.3">
                  <p:embed/>
                </p:oleObj>
              </mc:Choice>
              <mc:Fallback>
                <p:oleObj name="Equation" r:id="rId10" imgW="125712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326" y="5692392"/>
                        <a:ext cx="1435787" cy="103836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052197"/>
              </p:ext>
            </p:extLst>
          </p:nvPr>
        </p:nvGraphicFramePr>
        <p:xfrm>
          <a:off x="4393497" y="3658276"/>
          <a:ext cx="146526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82680" imgH="914400" progId="Equation.3">
                  <p:embed/>
                </p:oleObj>
              </mc:Choice>
              <mc:Fallback>
                <p:oleObj name="Equation" r:id="rId12" imgW="1282680" imgH="914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3497" y="3658276"/>
                        <a:ext cx="1465262" cy="10382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67324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size formulas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19276"/>
              </p:ext>
            </p:extLst>
          </p:nvPr>
        </p:nvGraphicFramePr>
        <p:xfrm>
          <a:off x="1125538" y="1312863"/>
          <a:ext cx="68929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35080" imgH="228600" progId="Equation.3">
                  <p:embed/>
                </p:oleObj>
              </mc:Choice>
              <mc:Fallback>
                <p:oleObj name="Equation" r:id="rId2" imgW="38350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1312863"/>
                        <a:ext cx="6892925" cy="409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641266"/>
              </p:ext>
            </p:extLst>
          </p:nvPr>
        </p:nvGraphicFramePr>
        <p:xfrm>
          <a:off x="1035662" y="2272046"/>
          <a:ext cx="29448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38000" imgH="228600" progId="Equation.3">
                  <p:embed/>
                </p:oleObj>
              </mc:Choice>
              <mc:Fallback>
                <p:oleObj name="Equation" r:id="rId4" imgW="1638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662" y="2272046"/>
                        <a:ext cx="2944813" cy="409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761737"/>
              </p:ext>
            </p:extLst>
          </p:nvPr>
        </p:nvGraphicFramePr>
        <p:xfrm>
          <a:off x="5057775" y="2272046"/>
          <a:ext cx="3629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241200" progId="Equation.3">
                  <p:embed/>
                </p:oleObj>
              </mc:Choice>
              <mc:Fallback>
                <p:oleObj name="Equation" r:id="rId6" imgW="20192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2272046"/>
                        <a:ext cx="3629025" cy="431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219118" y="3174781"/>
            <a:ext cx="4838657" cy="56429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Solve for delta, then for sample size 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269" y="4046275"/>
            <a:ext cx="2094005" cy="8279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3183" y="3909092"/>
            <a:ext cx="3570000" cy="1045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3183" y="5394520"/>
            <a:ext cx="3570000" cy="114346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1903" y="5521796"/>
            <a:ext cx="3100732" cy="88891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One sided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804253"/>
              </p:ext>
            </p:extLst>
          </p:nvPr>
        </p:nvGraphicFramePr>
        <p:xfrm>
          <a:off x="463207" y="4066913"/>
          <a:ext cx="18716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41120" imgH="482400" progId="Equation.3">
                  <p:embed/>
                </p:oleObj>
              </mc:Choice>
              <mc:Fallback>
                <p:oleObj name="Equation" r:id="rId11" imgW="10411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07" y="4066913"/>
                        <a:ext cx="1871663" cy="863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37129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155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2 error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4" y="1198606"/>
            <a:ext cx="4450631" cy="315097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448" y="1198606"/>
            <a:ext cx="4184822" cy="304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854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472" y="1190366"/>
            <a:ext cx="4251894" cy="47161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553" y="1190366"/>
            <a:ext cx="4315447" cy="18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8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guyenvantien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guyenvantien" id="{EC748391-187F-4087-ACA2-05EA56029B84}" vid="{00A8BC06-0D84-4C8A-8CB3-BFD63E96F3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nguyenvantien</Template>
  <TotalTime>2574</TotalTime>
  <Words>1023</Words>
  <Application>Microsoft Office PowerPoint</Application>
  <PresentationFormat>On-screen Show (4:3)</PresentationFormat>
  <Paragraphs>261</Paragraphs>
  <Slides>59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Calibri</vt:lpstr>
      <vt:lpstr>Cambria Math</vt:lpstr>
      <vt:lpstr>Tw Cen MT</vt:lpstr>
      <vt:lpstr>Tw Cen MT Condensed</vt:lpstr>
      <vt:lpstr>Wingdings</vt:lpstr>
      <vt:lpstr>Wingdings 3</vt:lpstr>
      <vt:lpstr>nguyenvantien</vt:lpstr>
      <vt:lpstr>Equation</vt:lpstr>
      <vt:lpstr>Hypothesis testing</vt:lpstr>
      <vt:lpstr>Thông tin -------------------------kết luận</vt:lpstr>
      <vt:lpstr>PowerPoint Presentation</vt:lpstr>
      <vt:lpstr>Hypothesis testing</vt:lpstr>
      <vt:lpstr>Example</vt:lpstr>
      <vt:lpstr>Example</vt:lpstr>
      <vt:lpstr>Example</vt:lpstr>
      <vt:lpstr>Tổng quát</vt:lpstr>
      <vt:lpstr>3 methods </vt:lpstr>
      <vt:lpstr>Critical Value: 6 Steps</vt:lpstr>
      <vt:lpstr>p Value: 6 Steps</vt:lpstr>
      <vt:lpstr>Confident Interval</vt:lpstr>
      <vt:lpstr>Hypothesis testing</vt:lpstr>
      <vt:lpstr>About H0 and H1</vt:lpstr>
      <vt:lpstr>About theory </vt:lpstr>
      <vt:lpstr>About observed value</vt:lpstr>
      <vt:lpstr>rejected  rules</vt:lpstr>
      <vt:lpstr>Z- test</vt:lpstr>
      <vt:lpstr>T- test</vt:lpstr>
      <vt:lpstr>Chi test</vt:lpstr>
      <vt:lpstr>Step by step</vt:lpstr>
      <vt:lpstr>PowerPoint Presentation</vt:lpstr>
      <vt:lpstr>PowerPoint Presentation</vt:lpstr>
      <vt:lpstr>PowerPoint Presentation</vt:lpstr>
      <vt:lpstr>Step by step</vt:lpstr>
      <vt:lpstr>Step by step</vt:lpstr>
      <vt:lpstr>Step by step</vt:lpstr>
      <vt:lpstr>Step by step</vt:lpstr>
      <vt:lpstr>Step by step</vt:lpstr>
      <vt:lpstr>PowerPoint Presentation</vt:lpstr>
      <vt:lpstr>PowerPoint Presentation</vt:lpstr>
      <vt:lpstr>PowerPoint Presentation</vt:lpstr>
      <vt:lpstr>PowerPoint Presentation</vt:lpstr>
      <vt:lpstr>f-test</vt:lpstr>
      <vt:lpstr>Các bước kiểm định</vt:lpstr>
      <vt:lpstr>P_value</vt:lpstr>
      <vt:lpstr>Type 2 error</vt:lpstr>
      <vt:lpstr>PowerPoint Presentation</vt:lpstr>
      <vt:lpstr>PowerPoint Presentation</vt:lpstr>
      <vt:lpstr>PowerPoint Presentation</vt:lpstr>
      <vt:lpstr>PowerPoint Presentation</vt:lpstr>
      <vt:lpstr>TYPE II ERROR procedure</vt:lpstr>
      <vt:lpstr>TYPE II ERROR</vt:lpstr>
      <vt:lpstr>Type 2 error of mean, sigma known</vt:lpstr>
      <vt:lpstr>Memory aid</vt:lpstr>
      <vt:lpstr>PowerPoint Presentation</vt:lpstr>
      <vt:lpstr>proportion</vt:lpstr>
      <vt:lpstr>Memory aid</vt:lpstr>
      <vt:lpstr>Unknown sigma</vt:lpstr>
      <vt:lpstr>Memory aid</vt:lpstr>
      <vt:lpstr>proportion</vt:lpstr>
      <vt:lpstr>proportion</vt:lpstr>
      <vt:lpstr>Calculate beta</vt:lpstr>
      <vt:lpstr>Variance</vt:lpstr>
      <vt:lpstr>Memory aid</vt:lpstr>
      <vt:lpstr>Sample size formulas</vt:lpstr>
      <vt:lpstr>summaries</vt:lpstr>
      <vt:lpstr>Type 2 error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9</dc:title>
  <dc:creator>Nam. Tran Hoai - CMCGlobal DU10</dc:creator>
  <cp:lastModifiedBy>Nguyen Van Tien (FE FPTU HCM)</cp:lastModifiedBy>
  <cp:revision>73</cp:revision>
  <dcterms:created xsi:type="dcterms:W3CDTF">2021-07-01T04:23:23Z</dcterms:created>
  <dcterms:modified xsi:type="dcterms:W3CDTF">2023-03-03T10:20:11Z</dcterms:modified>
</cp:coreProperties>
</file>